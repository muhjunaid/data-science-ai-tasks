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72" r:id="rId2"/>
    <p:sldId id="273" r:id="rId3"/>
    <p:sldId id="258" r:id="rId4"/>
    <p:sldId id="257" r:id="rId5"/>
    <p:sldId id="274" r:id="rId6"/>
    <p:sldId id="275" r:id="rId7"/>
    <p:sldId id="276" r:id="rId8"/>
    <p:sldId id="277" r:id="rId9"/>
    <p:sldId id="290" r:id="rId10"/>
    <p:sldId id="278" r:id="rId11"/>
    <p:sldId id="279" r:id="rId12"/>
    <p:sldId id="280" r:id="rId13"/>
    <p:sldId id="281" r:id="rId14"/>
    <p:sldId id="282" r:id="rId15"/>
    <p:sldId id="284" r:id="rId16"/>
    <p:sldId id="285" r:id="rId17"/>
    <p:sldId id="286" r:id="rId18"/>
    <p:sldId id="287" r:id="rId19"/>
    <p:sldId id="288" r:id="rId20"/>
    <p:sldId id="28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4660"/>
  </p:normalViewPr>
  <p:slideViewPr>
    <p:cSldViewPr>
      <p:cViewPr varScale="1">
        <p:scale>
          <a:sx n="79" d="100"/>
          <a:sy n="79" d="100"/>
        </p:scale>
        <p:origin x="1589"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4115D4-751D-492A-A1EC-DEAC8FD98EC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C72CD-F05B-4775-A2C6-896D2B750717}"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688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4115D4-751D-492A-A1EC-DEAC8FD98EC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2016595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4115D4-751D-492A-A1EC-DEAC8FD98EC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C72CD-F05B-4775-A2C6-896D2B750717}"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6346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4115D4-751D-492A-A1EC-DEAC8FD98EC5}"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460104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4115D4-751D-492A-A1EC-DEAC8FD98EC5}"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4052373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4115D4-751D-492A-A1EC-DEAC8FD98EC5}"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2513618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84115D4-751D-492A-A1EC-DEAC8FD98EC5}" type="datetimeFigureOut">
              <a:rPr lang="en-US" smtClean="0"/>
              <a:t>10/21/2025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2513287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B84115D4-751D-492A-A1EC-DEAC8FD98EC5}" type="datetimeFigureOut">
              <a:rPr lang="en-US" smtClean="0"/>
              <a:t>10/21/2025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DAC72CD-F05B-4775-A2C6-896D2B750717}" type="slidenum">
              <a:rPr lang="en-US" smtClean="0"/>
              <a:t>‹#›</a:t>
            </a:fld>
            <a:endParaRPr lang="en-US"/>
          </a:p>
        </p:txBody>
      </p:sp>
    </p:spTree>
    <p:extLst>
      <p:ext uri="{BB962C8B-B14F-4D97-AF65-F5344CB8AC3E}">
        <p14:creationId xmlns:p14="http://schemas.microsoft.com/office/powerpoint/2010/main" val="2602366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4115D4-751D-492A-A1EC-DEAC8FD98EC5}"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2331207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4115D4-751D-492A-A1EC-DEAC8FD98EC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3617307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4115D4-751D-492A-A1EC-DEAC8FD98EC5}"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3677528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B84115D4-751D-492A-A1EC-DEAC8FD98EC5}" type="datetimeFigureOut">
              <a:rPr lang="en-US" smtClean="0"/>
              <a:t>10/21/2025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DDAC72CD-F05B-4775-A2C6-896D2B750717}"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633474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2">
            <a:extLst>
              <a:ext uri="{FF2B5EF4-FFF2-40B4-BE49-F238E27FC236}">
                <a16:creationId xmlns:a16="http://schemas.microsoft.com/office/drawing/2014/main" id="{0EDEEB3A-F817-6CF4-7539-0ED6A116CA74}"/>
              </a:ext>
            </a:extLst>
          </p:cNvPr>
          <p:cNvSpPr txBox="1">
            <a:spLocks/>
          </p:cNvSpPr>
          <p:nvPr/>
        </p:nvSpPr>
        <p:spPr>
          <a:xfrm>
            <a:off x="1043608" y="260648"/>
            <a:ext cx="7380820" cy="995316"/>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6000" b="1" dirty="0">
                <a:latin typeface="Algerian" panose="04020705040A02060702" pitchFamily="82" charset="0"/>
              </a:rPr>
              <a:t>Analyzing report</a:t>
            </a:r>
            <a:endParaRPr lang="en-US" sz="6000" dirty="0">
              <a:latin typeface="Algerian" panose="04020705040A02060702" pitchFamily="82" charset="0"/>
            </a:endParaRPr>
          </a:p>
        </p:txBody>
      </p:sp>
      <p:sp>
        <p:nvSpPr>
          <p:cNvPr id="2" name="Rectangle 1">
            <a:extLst>
              <a:ext uri="{FF2B5EF4-FFF2-40B4-BE49-F238E27FC236}">
                <a16:creationId xmlns:a16="http://schemas.microsoft.com/office/drawing/2014/main" id="{34E961F4-A837-F3B8-8130-EFD65CCD0931}"/>
              </a:ext>
            </a:extLst>
          </p:cNvPr>
          <p:cNvSpPr/>
          <p:nvPr/>
        </p:nvSpPr>
        <p:spPr>
          <a:xfrm>
            <a:off x="1043608" y="1988840"/>
            <a:ext cx="7317837" cy="3960440"/>
          </a:xfrm>
          <a:prstGeom prst="rect">
            <a:avLst/>
          </a:prstGeom>
          <a:noFill/>
        </p:spPr>
        <p:txBody>
          <a:bodyPr wrap="none" lIns="91440" tIns="45720" rIns="91440" bIns="45720">
            <a:prstTxWarp prst="textArchUp">
              <a:avLst>
                <a:gd name="adj" fmla="val 11284829"/>
              </a:avLst>
            </a:prstTxWarp>
            <a:spAutoFit/>
          </a:bodyPr>
          <a:lstStyle/>
          <a:p>
            <a:pPr algn="ctr"/>
            <a:r>
              <a:rPr lang="en-US" sz="4000" b="1" dirty="0">
                <a:ln w="6600">
                  <a:solidFill>
                    <a:schemeClr val="accent2"/>
                  </a:solidFill>
                  <a:prstDash val="solid"/>
                </a:ln>
                <a:solidFill>
                  <a:schemeClr val="accent1">
                    <a:lumMod val="40000"/>
                    <a:lumOff val="60000"/>
                  </a:schemeClr>
                </a:solidFill>
                <a:effectLst>
                  <a:outerShdw dist="38100" dir="2700000" algn="tl" rotWithShape="0">
                    <a:schemeClr val="accent2"/>
                  </a:outerShdw>
                </a:effectLst>
              </a:rPr>
              <a:t>Predicting Cardiovascular Disease</a:t>
            </a:r>
            <a:endParaRPr lang="en-US" sz="9600" b="1" dirty="0">
              <a:ln w="6600">
                <a:solidFill>
                  <a:schemeClr val="accent2"/>
                </a:solidFill>
                <a:prstDash val="solid"/>
              </a:ln>
              <a:solidFill>
                <a:schemeClr val="accent1">
                  <a:lumMod val="40000"/>
                  <a:lumOff val="60000"/>
                </a:schemeClr>
              </a:solidFill>
              <a:effectLst>
                <a:outerShdw dist="38100" dir="2700000" algn="tl" rotWithShape="0">
                  <a:schemeClr val="accent2"/>
                </a:outerShdw>
              </a:effectLst>
            </a:endParaRPr>
          </a:p>
        </p:txBody>
      </p:sp>
      <p:pic>
        <p:nvPicPr>
          <p:cNvPr id="6" name="Picture 5">
            <a:extLst>
              <a:ext uri="{FF2B5EF4-FFF2-40B4-BE49-F238E27FC236}">
                <a16:creationId xmlns:a16="http://schemas.microsoft.com/office/drawing/2014/main" id="{E6F64B62-327C-F601-6AF4-22773F4981F5}"/>
              </a:ext>
            </a:extLst>
          </p:cNvPr>
          <p:cNvPicPr>
            <a:picLocks noChangeAspect="1"/>
          </p:cNvPicPr>
          <p:nvPr/>
        </p:nvPicPr>
        <p:blipFill>
          <a:blip r:embed="rId2"/>
          <a:stretch>
            <a:fillRect/>
          </a:stretch>
        </p:blipFill>
        <p:spPr>
          <a:xfrm>
            <a:off x="3336929" y="2587923"/>
            <a:ext cx="2470141" cy="3361357"/>
          </a:xfrm>
          <a:prstGeom prst="rect">
            <a:avLst/>
          </a:prstGeom>
        </p:spPr>
      </p:pic>
    </p:spTree>
    <p:extLst>
      <p:ext uri="{BB962C8B-B14F-4D97-AF65-F5344CB8AC3E}">
        <p14:creationId xmlns:p14="http://schemas.microsoft.com/office/powerpoint/2010/main" val="1809143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7D22BE-753A-B6BE-3283-EA6226988FE3}"/>
              </a:ext>
            </a:extLst>
          </p:cNvPr>
          <p:cNvSpPr txBox="1"/>
          <p:nvPr/>
        </p:nvSpPr>
        <p:spPr>
          <a:xfrm>
            <a:off x="973382" y="1265328"/>
            <a:ext cx="5118709" cy="584775"/>
          </a:xfrm>
          <a:prstGeom prst="rect">
            <a:avLst/>
          </a:prstGeom>
          <a:noFill/>
        </p:spPr>
        <p:txBody>
          <a:bodyPr wrap="none" rtlCol="0">
            <a:spAutoFit/>
          </a:bodyPr>
          <a:lstStyle/>
          <a:p>
            <a:pPr marL="571500" indent="-571500">
              <a:buFont typeface="Wingdings" panose="05000000000000000000" pitchFamily="2" charset="2"/>
              <a:buChar char="q"/>
            </a:pPr>
            <a:r>
              <a:rPr lang="en-US" sz="3200" dirty="0">
                <a:solidFill>
                  <a:schemeClr val="tx2">
                    <a:lumMod val="50000"/>
                  </a:schemeClr>
                </a:solidFill>
                <a:latin typeface="Times New Roman" pitchFamily="18" charset="0"/>
                <a:cs typeface="Times New Roman" pitchFamily="18" charset="0"/>
              </a:rPr>
              <a:t>Name: Muhammad Junaid</a:t>
            </a:r>
          </a:p>
        </p:txBody>
      </p:sp>
      <p:sp>
        <p:nvSpPr>
          <p:cNvPr id="3" name="TextBox 2">
            <a:extLst>
              <a:ext uri="{FF2B5EF4-FFF2-40B4-BE49-F238E27FC236}">
                <a16:creationId xmlns:a16="http://schemas.microsoft.com/office/drawing/2014/main" id="{3DCFED6B-DB5B-F627-D024-C362F9025EE7}"/>
              </a:ext>
            </a:extLst>
          </p:cNvPr>
          <p:cNvSpPr txBox="1"/>
          <p:nvPr/>
        </p:nvSpPr>
        <p:spPr>
          <a:xfrm>
            <a:off x="977063" y="2484185"/>
            <a:ext cx="7855035" cy="584775"/>
          </a:xfrm>
          <a:prstGeom prst="rect">
            <a:avLst/>
          </a:prstGeom>
          <a:noFill/>
        </p:spPr>
        <p:txBody>
          <a:bodyPr wrap="none" rtlCol="0">
            <a:spAutoFit/>
          </a:bodyPr>
          <a:lstStyle/>
          <a:p>
            <a:pPr marL="457200" indent="-457200">
              <a:buFont typeface="Wingdings" panose="05000000000000000000" pitchFamily="2" charset="2"/>
              <a:buChar char="q"/>
            </a:pPr>
            <a:r>
              <a:rPr lang="en-US" sz="3200" dirty="0">
                <a:solidFill>
                  <a:schemeClr val="tx2">
                    <a:lumMod val="50000"/>
                  </a:schemeClr>
                </a:solidFill>
                <a:latin typeface="Times New Roman" pitchFamily="18" charset="0"/>
                <a:cs typeface="Times New Roman" pitchFamily="18" charset="0"/>
              </a:rPr>
              <a:t>Dataset : Predicting Cardiovascular Disease</a:t>
            </a:r>
          </a:p>
        </p:txBody>
      </p:sp>
      <p:sp>
        <p:nvSpPr>
          <p:cNvPr id="4" name="TextBox 3">
            <a:extLst>
              <a:ext uri="{FF2B5EF4-FFF2-40B4-BE49-F238E27FC236}">
                <a16:creationId xmlns:a16="http://schemas.microsoft.com/office/drawing/2014/main" id="{51E17AFB-11FE-1FAE-2208-CFB68B492CBE}"/>
              </a:ext>
            </a:extLst>
          </p:cNvPr>
          <p:cNvSpPr txBox="1"/>
          <p:nvPr/>
        </p:nvSpPr>
        <p:spPr>
          <a:xfrm>
            <a:off x="973382" y="3789040"/>
            <a:ext cx="5780493" cy="584775"/>
          </a:xfrm>
          <a:prstGeom prst="rect">
            <a:avLst/>
          </a:prstGeom>
          <a:noFill/>
        </p:spPr>
        <p:txBody>
          <a:bodyPr wrap="none" rtlCol="0">
            <a:spAutoFit/>
          </a:bodyPr>
          <a:lstStyle/>
          <a:p>
            <a:pPr marL="571500" indent="-571500">
              <a:buFont typeface="Wingdings" panose="05000000000000000000" pitchFamily="2" charset="2"/>
              <a:buChar char="q"/>
            </a:pPr>
            <a:r>
              <a:rPr lang="en-US" sz="3200" dirty="0">
                <a:solidFill>
                  <a:schemeClr val="tx2">
                    <a:lumMod val="50000"/>
                  </a:schemeClr>
                </a:solidFill>
                <a:latin typeface="Times New Roman" pitchFamily="18" charset="0"/>
                <a:cs typeface="Times New Roman" pitchFamily="18" charset="0"/>
              </a:rPr>
              <a:t>Assigned by : Sir Yasir Nawaz</a:t>
            </a:r>
          </a:p>
        </p:txBody>
      </p:sp>
    </p:spTree>
    <p:extLst>
      <p:ext uri="{BB962C8B-B14F-4D97-AF65-F5344CB8AC3E}">
        <p14:creationId xmlns:p14="http://schemas.microsoft.com/office/powerpoint/2010/main" val="1941247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79712" y="260648"/>
            <a:ext cx="5356576" cy="1015663"/>
          </a:xfrm>
          <a:prstGeom prst="rect">
            <a:avLst/>
          </a:prstGeom>
          <a:noFill/>
        </p:spPr>
        <p:txBody>
          <a:bodyPr wrap="square" rtlCol="0">
            <a:spAutoFit/>
          </a:bodyPr>
          <a:lstStyle/>
          <a:p>
            <a:r>
              <a:rPr lang="en-US" sz="60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itchFamily="82" charset="0"/>
              </a:rPr>
              <a:t>Introduction</a:t>
            </a:r>
          </a:p>
        </p:txBody>
      </p:sp>
      <p:sp>
        <p:nvSpPr>
          <p:cNvPr id="3" name="TextBox 2"/>
          <p:cNvSpPr txBox="1"/>
          <p:nvPr/>
        </p:nvSpPr>
        <p:spPr>
          <a:xfrm>
            <a:off x="304073" y="1556792"/>
            <a:ext cx="8839927" cy="4420890"/>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sz="2400" dirty="0"/>
              <a:t>This heart disease dataset is common features which makes it one of the heart disease dataset available so far for research purposes. </a:t>
            </a:r>
          </a:p>
          <a:p>
            <a:pPr marL="342900" indent="-342900">
              <a:lnSpc>
                <a:spcPct val="200000"/>
              </a:lnSpc>
              <a:buFont typeface="Wingdings" panose="05000000000000000000" pitchFamily="2" charset="2"/>
              <a:buChar char="Ø"/>
            </a:pPr>
            <a:r>
              <a:rPr lang="en-US" sz="2400" dirty="0"/>
              <a:t>This dataset consists of 1000 subjects with 14 features. </a:t>
            </a:r>
          </a:p>
          <a:p>
            <a:pPr marL="342900" indent="-342900">
              <a:lnSpc>
                <a:spcPct val="200000"/>
              </a:lnSpc>
              <a:buFont typeface="Wingdings" panose="05000000000000000000" pitchFamily="2" charset="2"/>
              <a:buChar char="Ø"/>
            </a:pPr>
            <a:r>
              <a:rPr lang="en-US" sz="2400" dirty="0"/>
              <a:t>This dataset will be useful for building an early-stage heart disease detection as well as to generate predictive machine learning models</a:t>
            </a:r>
            <a:r>
              <a:rPr lang="en-US" dirty="0"/>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558427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8A9983-3AA3-B166-3E18-AA4DE6AE32C1}"/>
              </a:ext>
            </a:extLst>
          </p:cNvPr>
          <p:cNvPicPr>
            <a:picLocks noChangeAspect="1"/>
          </p:cNvPicPr>
          <p:nvPr/>
        </p:nvPicPr>
        <p:blipFill>
          <a:blip r:embed="rId2">
            <a:extLst>
              <a:ext uri="{28A0092B-C50C-407E-A947-70E740481C1C}">
                <a14:useLocalDpi xmlns:a14="http://schemas.microsoft.com/office/drawing/2010/main" val="0"/>
              </a:ext>
            </a:extLst>
          </a:blip>
          <a:srcRect l="5801" t="11151" r="2190" b="45986"/>
          <a:stretch>
            <a:fillRect/>
          </a:stretch>
        </p:blipFill>
        <p:spPr>
          <a:xfrm>
            <a:off x="35496" y="692697"/>
            <a:ext cx="9071992" cy="5976664"/>
          </a:xfrm>
          <a:prstGeom prst="rect">
            <a:avLst/>
          </a:prstGeom>
        </p:spPr>
      </p:pic>
      <p:sp>
        <p:nvSpPr>
          <p:cNvPr id="2" name="TextBox 1"/>
          <p:cNvSpPr txBox="1"/>
          <p:nvPr/>
        </p:nvSpPr>
        <p:spPr>
          <a:xfrm>
            <a:off x="72008" y="116632"/>
            <a:ext cx="9468544" cy="677108"/>
          </a:xfrm>
          <a:prstGeom prst="rect">
            <a:avLst/>
          </a:prstGeom>
          <a:noFill/>
        </p:spPr>
        <p:txBody>
          <a:bodyPr wrap="square" rtlCol="0">
            <a:spAutoFit/>
          </a:bodyPr>
          <a:lstStyle/>
          <a:p>
            <a:r>
              <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Cardiovascular Disease Dataset Description </a:t>
            </a:r>
            <a:endPar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itchFamily="82" charset="0"/>
            </a:endParaRPr>
          </a:p>
        </p:txBody>
      </p:sp>
    </p:spTree>
    <p:extLst>
      <p:ext uri="{BB962C8B-B14F-4D97-AF65-F5344CB8AC3E}">
        <p14:creationId xmlns:p14="http://schemas.microsoft.com/office/powerpoint/2010/main" val="2085195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7EECDA-8935-AB55-6574-A5D6D07743BC}"/>
              </a:ext>
            </a:extLst>
          </p:cNvPr>
          <p:cNvSpPr txBox="1"/>
          <p:nvPr/>
        </p:nvSpPr>
        <p:spPr>
          <a:xfrm>
            <a:off x="72008" y="116632"/>
            <a:ext cx="9468544" cy="677108"/>
          </a:xfrm>
          <a:prstGeom prst="rect">
            <a:avLst/>
          </a:prstGeom>
          <a:noFill/>
        </p:spPr>
        <p:txBody>
          <a:bodyPr wrap="square" rtlCol="0">
            <a:spAutoFit/>
          </a:bodyPr>
          <a:lstStyle/>
          <a:p>
            <a:r>
              <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Cardiovascular Disease Dataset Description </a:t>
            </a:r>
            <a:endPar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itchFamily="82" charset="0"/>
            </a:endParaRPr>
          </a:p>
        </p:txBody>
      </p:sp>
      <p:pic>
        <p:nvPicPr>
          <p:cNvPr id="4" name="Picture 3">
            <a:extLst>
              <a:ext uri="{FF2B5EF4-FFF2-40B4-BE49-F238E27FC236}">
                <a16:creationId xmlns:a16="http://schemas.microsoft.com/office/drawing/2014/main" id="{D69A9D01-DBFD-2479-7060-89CF51E49629}"/>
              </a:ext>
            </a:extLst>
          </p:cNvPr>
          <p:cNvPicPr>
            <a:picLocks noChangeAspect="1"/>
          </p:cNvPicPr>
          <p:nvPr/>
        </p:nvPicPr>
        <p:blipFill>
          <a:blip r:embed="rId2">
            <a:extLst>
              <a:ext uri="{28A0092B-C50C-407E-A947-70E740481C1C}">
                <a14:useLocalDpi xmlns:a14="http://schemas.microsoft.com/office/drawing/2010/main" val="0"/>
              </a:ext>
            </a:extLst>
          </a:blip>
          <a:srcRect l="6505" t="53670" r="2958" b="27162"/>
          <a:stretch>
            <a:fillRect/>
          </a:stretch>
        </p:blipFill>
        <p:spPr>
          <a:xfrm>
            <a:off x="0" y="1484784"/>
            <a:ext cx="9139255" cy="2736304"/>
          </a:xfrm>
          <a:prstGeom prst="rect">
            <a:avLst/>
          </a:prstGeom>
        </p:spPr>
      </p:pic>
    </p:spTree>
    <p:extLst>
      <p:ext uri="{BB962C8B-B14F-4D97-AF65-F5344CB8AC3E}">
        <p14:creationId xmlns:p14="http://schemas.microsoft.com/office/powerpoint/2010/main" val="1047836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B7496B-5698-C78A-E7EA-00F2ED4652A4}"/>
              </a:ext>
            </a:extLst>
          </p:cNvPr>
          <p:cNvPicPr>
            <a:picLocks noChangeAspect="1"/>
          </p:cNvPicPr>
          <p:nvPr/>
        </p:nvPicPr>
        <p:blipFill>
          <a:blip r:embed="rId2"/>
          <a:stretch>
            <a:fillRect/>
          </a:stretch>
        </p:blipFill>
        <p:spPr>
          <a:xfrm>
            <a:off x="0" y="2625246"/>
            <a:ext cx="9144000" cy="1607507"/>
          </a:xfrm>
          <a:prstGeom prst="rect">
            <a:avLst/>
          </a:prstGeom>
        </p:spPr>
      </p:pic>
      <p:sp>
        <p:nvSpPr>
          <p:cNvPr id="4" name="TextBox 3">
            <a:extLst>
              <a:ext uri="{FF2B5EF4-FFF2-40B4-BE49-F238E27FC236}">
                <a16:creationId xmlns:a16="http://schemas.microsoft.com/office/drawing/2014/main" id="{3C4F3DAE-CB70-17D4-8609-E6E9E42A1C3A}"/>
              </a:ext>
            </a:extLst>
          </p:cNvPr>
          <p:cNvSpPr txBox="1"/>
          <p:nvPr/>
        </p:nvSpPr>
        <p:spPr>
          <a:xfrm>
            <a:off x="611560" y="548680"/>
            <a:ext cx="9468544" cy="677108"/>
          </a:xfrm>
          <a:prstGeom prst="rect">
            <a:avLst/>
          </a:prstGeom>
          <a:noFill/>
        </p:spPr>
        <p:txBody>
          <a:bodyPr wrap="square" rtlCol="0">
            <a:spAutoFit/>
          </a:bodyPr>
          <a:lstStyle/>
          <a:p>
            <a:r>
              <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Cardiovascular Disease Actual Dataset</a:t>
            </a:r>
            <a:endPar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itchFamily="82" charset="0"/>
            </a:endParaRPr>
          </a:p>
        </p:txBody>
      </p:sp>
    </p:spTree>
    <p:extLst>
      <p:ext uri="{BB962C8B-B14F-4D97-AF65-F5344CB8AC3E}">
        <p14:creationId xmlns:p14="http://schemas.microsoft.com/office/powerpoint/2010/main" val="1246618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1BA4C1-BCDB-8A55-0637-EDEF200EF239}"/>
              </a:ext>
            </a:extLst>
          </p:cNvPr>
          <p:cNvSpPr txBox="1"/>
          <p:nvPr/>
        </p:nvSpPr>
        <p:spPr>
          <a:xfrm>
            <a:off x="1259632" y="188640"/>
            <a:ext cx="7200800" cy="1569660"/>
          </a:xfrm>
          <a:prstGeom prst="rect">
            <a:avLst/>
          </a:prstGeom>
          <a:noFill/>
        </p:spPr>
        <p:txBody>
          <a:bodyPr wrap="square" rtlCol="0">
            <a:spAutoFit/>
          </a:bodyPr>
          <a:lstStyle>
            <a:defPPr>
              <a:defRPr lang="en-US"/>
            </a:defPPr>
            <a:lvl1pPr>
              <a:defRPr sz="3800" b="1" u="sng">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defRPr>
            </a:lvl1pPr>
          </a:lstStyle>
          <a:p>
            <a:r>
              <a:rPr lang="en-US" sz="4800" dirty="0"/>
              <a:t>Exploratory Data Analysis</a:t>
            </a:r>
          </a:p>
          <a:p>
            <a:pPr algn="ctr"/>
            <a:r>
              <a:rPr lang="en-US" sz="4800" dirty="0"/>
              <a:t>(EDA)</a:t>
            </a:r>
          </a:p>
        </p:txBody>
      </p:sp>
      <p:sp>
        <p:nvSpPr>
          <p:cNvPr id="5" name="TextBox 4">
            <a:extLst>
              <a:ext uri="{FF2B5EF4-FFF2-40B4-BE49-F238E27FC236}">
                <a16:creationId xmlns:a16="http://schemas.microsoft.com/office/drawing/2014/main" id="{1EB07A58-FE47-9617-61E5-C681D0724D38}"/>
              </a:ext>
            </a:extLst>
          </p:cNvPr>
          <p:cNvSpPr txBox="1"/>
          <p:nvPr/>
        </p:nvSpPr>
        <p:spPr>
          <a:xfrm>
            <a:off x="395536" y="2305615"/>
            <a:ext cx="8568952" cy="2246769"/>
          </a:xfrm>
          <a:prstGeom prst="rect">
            <a:avLst/>
          </a:prstGeom>
          <a:noFill/>
        </p:spPr>
        <p:txBody>
          <a:bodyPr wrap="square">
            <a:spAutoFit/>
          </a:bodyPr>
          <a:lstStyle/>
          <a:p>
            <a:pPr algn="just"/>
            <a:r>
              <a:rPr lang="en-US" sz="2800" b="0" i="0" dirty="0">
                <a:solidFill>
                  <a:srgbClr val="001D35"/>
                </a:solidFill>
                <a:effectLst/>
                <a:latin typeface="Google Sans"/>
              </a:rPr>
              <a:t>Exploratory Data Analysis (EDA) is </a:t>
            </a:r>
            <a:r>
              <a:rPr lang="en-US" sz="2800" dirty="0"/>
              <a:t>an analytical approach to understand a dataset's main characteristics by summarizing and visualizing it, primarily using statistical graphics and data visualization methods to uncover patterns, anomalies, and relationships</a:t>
            </a:r>
            <a:r>
              <a:rPr lang="en-US" sz="2800" b="0" i="0" dirty="0">
                <a:solidFill>
                  <a:srgbClr val="001D35"/>
                </a:solidFill>
                <a:effectLst/>
                <a:latin typeface="Google Sans"/>
              </a:rPr>
              <a:t>.</a:t>
            </a:r>
            <a:endParaRPr lang="en-US" sz="2800" dirty="0"/>
          </a:p>
        </p:txBody>
      </p:sp>
    </p:spTree>
    <p:extLst>
      <p:ext uri="{BB962C8B-B14F-4D97-AF65-F5344CB8AC3E}">
        <p14:creationId xmlns:p14="http://schemas.microsoft.com/office/powerpoint/2010/main" val="1184933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C7F4551-F62C-AD29-A0F2-9B95DA92D23C}"/>
              </a:ext>
            </a:extLst>
          </p:cNvPr>
          <p:cNvGraphicFramePr>
            <a:graphicFrameLocks noGrp="1"/>
          </p:cNvGraphicFramePr>
          <p:nvPr>
            <p:extLst>
              <p:ext uri="{D42A27DB-BD31-4B8C-83A1-F6EECF244321}">
                <p14:modId xmlns:p14="http://schemas.microsoft.com/office/powerpoint/2010/main" val="2584315570"/>
              </p:ext>
            </p:extLst>
          </p:nvPr>
        </p:nvGraphicFramePr>
        <p:xfrm>
          <a:off x="539552" y="116632"/>
          <a:ext cx="7992890" cy="6741366"/>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1820255178"/>
                    </a:ext>
                  </a:extLst>
                </a:gridCol>
                <a:gridCol w="2592288">
                  <a:extLst>
                    <a:ext uri="{9D8B030D-6E8A-4147-A177-3AD203B41FA5}">
                      <a16:colId xmlns:a16="http://schemas.microsoft.com/office/drawing/2014/main" val="192124359"/>
                    </a:ext>
                  </a:extLst>
                </a:gridCol>
                <a:gridCol w="1411358">
                  <a:extLst>
                    <a:ext uri="{9D8B030D-6E8A-4147-A177-3AD203B41FA5}">
                      <a16:colId xmlns:a16="http://schemas.microsoft.com/office/drawing/2014/main" val="1657150683"/>
                    </a:ext>
                  </a:extLst>
                </a:gridCol>
                <a:gridCol w="1598578">
                  <a:extLst>
                    <a:ext uri="{9D8B030D-6E8A-4147-A177-3AD203B41FA5}">
                      <a16:colId xmlns:a16="http://schemas.microsoft.com/office/drawing/2014/main" val="1769229304"/>
                    </a:ext>
                  </a:extLst>
                </a:gridCol>
                <a:gridCol w="1598578">
                  <a:extLst>
                    <a:ext uri="{9D8B030D-6E8A-4147-A177-3AD203B41FA5}">
                      <a16:colId xmlns:a16="http://schemas.microsoft.com/office/drawing/2014/main" val="3744769338"/>
                    </a:ext>
                  </a:extLst>
                </a:gridCol>
              </a:tblGrid>
              <a:tr h="419541">
                <a:tc>
                  <a:txBody>
                    <a:bodyPr/>
                    <a:lstStyle/>
                    <a:p>
                      <a:pPr algn="ctr" fontAlgn="ctr">
                        <a:buNone/>
                      </a:pPr>
                      <a:r>
                        <a:rPr lang="en-US" sz="1600" b="0" i="0" u="none" strike="noStrike" dirty="0">
                          <a:solidFill>
                            <a:srgbClr val="000000"/>
                          </a:solidFill>
                          <a:effectLst/>
                          <a:latin typeface="Consolas" panose="020B0609020204030204" pitchFamily="49" charset="0"/>
                        </a:rPr>
                        <a: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1" i="1" u="none" strike="noStrike" dirty="0">
                          <a:solidFill>
                            <a:schemeClr val="bg1">
                              <a:lumMod val="95000"/>
                            </a:schemeClr>
                          </a:solidFill>
                          <a:effectLst/>
                          <a:latin typeface="Calibri" panose="020F0502020204030204" pitchFamily="34" charset="0"/>
                        </a:rPr>
                        <a:t>Columns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1" i="1" u="none" strike="noStrike" dirty="0">
                          <a:solidFill>
                            <a:schemeClr val="bg1">
                              <a:lumMod val="95000"/>
                            </a:schemeClr>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1" i="1" u="none" strike="noStrike" dirty="0">
                          <a:solidFill>
                            <a:schemeClr val="bg1">
                              <a:lumMod val="95000"/>
                            </a:schemeClr>
                          </a:solidFill>
                          <a:effectLst/>
                          <a:latin typeface="Calibri" panose="020F0502020204030204" pitchFamily="34" charset="0"/>
                        </a:rPr>
                        <a:t>Count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1" i="1" u="none" strike="noStrike" dirty="0" err="1">
                          <a:solidFill>
                            <a:schemeClr val="bg1">
                              <a:lumMod val="95000"/>
                            </a:schemeClr>
                          </a:solidFill>
                          <a:effectLst/>
                          <a:latin typeface="Calibri" panose="020F0502020204030204" pitchFamily="34" charset="0"/>
                        </a:rPr>
                        <a:t>Dtype</a:t>
                      </a:r>
                      <a:endParaRPr lang="en-US" sz="2400" b="1" i="1" u="none" strike="noStrike" dirty="0">
                        <a:solidFill>
                          <a:schemeClr val="bg1">
                            <a:lumMod val="95000"/>
                          </a:schemeClr>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77776"/>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patientid</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1795079"/>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Calibri" panose="020F0502020204030204" pitchFamily="34" charset="0"/>
                        </a:rPr>
                        <a:t>age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2687677"/>
                  </a:ext>
                </a:extLst>
              </a:tr>
              <a:tr h="376785">
                <a:tc>
                  <a:txBody>
                    <a:bodyPr/>
                    <a:lstStyle/>
                    <a:p>
                      <a:pPr algn="ctr" fontAlgn="ctr">
                        <a:buNone/>
                      </a:pPr>
                      <a:r>
                        <a:rPr lang="en-US" sz="2000" b="0" i="0" u="none" strike="noStrike" kern="1200">
                          <a:solidFill>
                            <a:srgbClr val="000000"/>
                          </a:solidFill>
                          <a:effectLst/>
                          <a:latin typeface="Calibri" panose="020F0502020204030204" pitchFamily="34" charset="0"/>
                          <a:ea typeface="+mn-ea"/>
                          <a:cs typeface="+mn-cs"/>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Calibri" panose="020F0502020204030204" pitchFamily="34" charset="0"/>
                        </a:rPr>
                        <a:t>gender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8261064"/>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chestpain</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5312483"/>
                  </a:ext>
                </a:extLst>
              </a:tr>
              <a:tr h="376785">
                <a:tc>
                  <a:txBody>
                    <a:bodyPr/>
                    <a:lstStyle/>
                    <a:p>
                      <a:pPr algn="ctr" fontAlgn="ctr">
                        <a:buNone/>
                      </a:pPr>
                      <a:r>
                        <a:rPr lang="en-US" sz="2000" b="0" i="0" u="none" strike="noStrike" kern="1200">
                          <a:solidFill>
                            <a:srgbClr val="000000"/>
                          </a:solidFill>
                          <a:effectLst/>
                          <a:latin typeface="Calibri" panose="020F0502020204030204" pitchFamily="34" charset="0"/>
                          <a:ea typeface="+mn-ea"/>
                          <a:cs typeface="+mn-cs"/>
                        </a:rPr>
                        <a:t>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restingBP</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7937627"/>
                  </a:ext>
                </a:extLst>
              </a:tr>
              <a:tr h="481274">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serumcholestrol</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484398"/>
                  </a:ext>
                </a:extLst>
              </a:tr>
              <a:tr h="481274">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fastingbloodsugar</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7463909"/>
                  </a:ext>
                </a:extLst>
              </a:tr>
              <a:tr h="481274">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restingrelectro</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274114"/>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maxheartrate</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955063"/>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exerciseangia</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6139294"/>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oldpeak</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float64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659721"/>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Calibri" panose="020F0502020204030204" pitchFamily="34" charset="0"/>
                        </a:rPr>
                        <a:t>slope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8631878"/>
                  </a:ext>
                </a:extLst>
              </a:tr>
              <a:tr h="481274">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noofmajorvessels</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541957"/>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Calibri" panose="020F0502020204030204" pitchFamily="34" charset="0"/>
                        </a:rPr>
                        <a:t>target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763906"/>
                  </a:ext>
                </a:extLst>
              </a:tr>
              <a:tr h="628879">
                <a:tc gridSpan="5">
                  <a:txBody>
                    <a:bodyPr/>
                    <a:lstStyle/>
                    <a:p>
                      <a:pPr algn="ctr" fontAlgn="ctr">
                        <a:buNone/>
                      </a:pPr>
                      <a:r>
                        <a:rPr lang="en-US" sz="2400" b="0" i="0" u="none" strike="noStrike" kern="1200" dirty="0" err="1">
                          <a:solidFill>
                            <a:srgbClr val="000000"/>
                          </a:solidFill>
                          <a:effectLst/>
                          <a:latin typeface="Calibri" panose="020F0502020204030204" pitchFamily="34" charset="0"/>
                          <a:ea typeface="+mn-ea"/>
                          <a:cs typeface="+mn-cs"/>
                        </a:rPr>
                        <a:t>dtype</a:t>
                      </a:r>
                      <a:r>
                        <a:rPr lang="en-US" sz="2400" b="0" i="0" u="none" strike="noStrike" dirty="0" err="1">
                          <a:solidFill>
                            <a:srgbClr val="000000"/>
                          </a:solidFill>
                          <a:effectLst/>
                          <a:latin typeface="Calibri" panose="020F0502020204030204" pitchFamily="34" charset="0"/>
                        </a:rPr>
                        <a:t>s</a:t>
                      </a:r>
                      <a:r>
                        <a:rPr lang="en-US" sz="2400" b="0" i="0" u="none" strike="noStrike" dirty="0">
                          <a:solidFill>
                            <a:srgbClr val="000000"/>
                          </a:solidFill>
                          <a:effectLst/>
                          <a:latin typeface="Calibri" panose="020F0502020204030204" pitchFamily="34" charset="0"/>
                        </a:rPr>
                        <a:t>: float64(1), int64(13)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7620" marR="7620" marT="7620" marB="0" anchor="b"/>
                </a:tc>
                <a:tc hMerge="1">
                  <a:txBody>
                    <a:bodyPr/>
                    <a:lstStyle/>
                    <a:p>
                      <a:endParaRPr/>
                    </a:p>
                  </a:txBody>
                  <a:tcPr marL="7620" marR="7620" marT="7620" marB="0" anchor="b"/>
                </a:tc>
                <a:tc hMerge="1">
                  <a:txBody>
                    <a:bodyPr/>
                    <a:lstStyle/>
                    <a:p>
                      <a:endParaRPr/>
                    </a:p>
                  </a:txBody>
                  <a:tcPr marL="7620" marR="7620" marT="7620" marB="0" anchor="b"/>
                </a:tc>
                <a:tc hMerge="1">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02914817"/>
                  </a:ext>
                </a:extLst>
              </a:tr>
            </a:tbl>
          </a:graphicData>
        </a:graphic>
      </p:graphicFrame>
    </p:spTree>
    <p:extLst>
      <p:ext uri="{BB962C8B-B14F-4D97-AF65-F5344CB8AC3E}">
        <p14:creationId xmlns:p14="http://schemas.microsoft.com/office/powerpoint/2010/main" val="1002324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4D22E1E-E19A-42A1-BDBE-FB3483F8086B}"/>
              </a:ext>
            </a:extLst>
          </p:cNvPr>
          <p:cNvGraphicFramePr>
            <a:graphicFrameLocks noGrp="1"/>
          </p:cNvGraphicFramePr>
          <p:nvPr>
            <p:extLst>
              <p:ext uri="{D42A27DB-BD31-4B8C-83A1-F6EECF244321}">
                <p14:modId xmlns:p14="http://schemas.microsoft.com/office/powerpoint/2010/main" val="3253808367"/>
              </p:ext>
            </p:extLst>
          </p:nvPr>
        </p:nvGraphicFramePr>
        <p:xfrm>
          <a:off x="323528" y="1412776"/>
          <a:ext cx="8640960" cy="3060396"/>
        </p:xfrm>
        <a:graphic>
          <a:graphicData uri="http://schemas.openxmlformats.org/drawingml/2006/table">
            <a:tbl>
              <a:tblPr firstRow="1" bandRow="1">
                <a:tableStyleId>{0505E3EF-67EA-436B-97B2-0124C06EBD24}</a:tableStyleId>
              </a:tblPr>
              <a:tblGrid>
                <a:gridCol w="1944216">
                  <a:extLst>
                    <a:ext uri="{9D8B030D-6E8A-4147-A177-3AD203B41FA5}">
                      <a16:colId xmlns:a16="http://schemas.microsoft.com/office/drawing/2014/main" val="320546546"/>
                    </a:ext>
                  </a:extLst>
                </a:gridCol>
                <a:gridCol w="6696744">
                  <a:extLst>
                    <a:ext uri="{9D8B030D-6E8A-4147-A177-3AD203B41FA5}">
                      <a16:colId xmlns:a16="http://schemas.microsoft.com/office/drawing/2014/main" val="347176913"/>
                    </a:ext>
                  </a:extLst>
                </a:gridCol>
              </a:tblGrid>
              <a:tr h="1080120">
                <a:tc>
                  <a:txBody>
                    <a:bodyPr/>
                    <a:lstStyle/>
                    <a:p>
                      <a:pPr algn="ctr"/>
                      <a:r>
                        <a:rPr lang="en-US" dirty="0"/>
                        <a:t>Columns</a:t>
                      </a:r>
                    </a:p>
                  </a:txBody>
                  <a:tcPr anchor="ctr"/>
                </a:tc>
                <a:tc>
                  <a:txBody>
                    <a:bodyPr/>
                    <a:lstStyle/>
                    <a:p>
                      <a:pPr algn="ctr"/>
                      <a:r>
                        <a:rPr lang="en-US" dirty="0"/>
                        <a:t>'</a:t>
                      </a:r>
                      <a:r>
                        <a:rPr lang="en-US" dirty="0" err="1"/>
                        <a:t>patientid</a:t>
                      </a:r>
                      <a:r>
                        <a:rPr lang="en-US" dirty="0"/>
                        <a:t>', 'age', 'gender', '</a:t>
                      </a:r>
                      <a:r>
                        <a:rPr lang="en-US" dirty="0" err="1"/>
                        <a:t>chestpain</a:t>
                      </a:r>
                      <a:r>
                        <a:rPr lang="en-US" dirty="0"/>
                        <a:t>', '</a:t>
                      </a:r>
                      <a:r>
                        <a:rPr lang="en-US" dirty="0" err="1"/>
                        <a:t>restingBP</a:t>
                      </a:r>
                      <a:r>
                        <a:rPr lang="en-US" dirty="0"/>
                        <a:t>', '</a:t>
                      </a:r>
                      <a:r>
                        <a:rPr lang="en-US" dirty="0" err="1"/>
                        <a:t>serumcholestrol</a:t>
                      </a:r>
                      <a:r>
                        <a:rPr lang="en-US" dirty="0"/>
                        <a:t>', '</a:t>
                      </a:r>
                      <a:r>
                        <a:rPr lang="en-US" dirty="0" err="1"/>
                        <a:t>fastingbloodsugar</a:t>
                      </a:r>
                      <a:r>
                        <a:rPr lang="en-US" dirty="0"/>
                        <a:t>', '</a:t>
                      </a:r>
                      <a:r>
                        <a:rPr lang="en-US" dirty="0" err="1"/>
                        <a:t>restingrelectro</a:t>
                      </a:r>
                      <a:r>
                        <a:rPr lang="en-US" dirty="0"/>
                        <a:t>', '</a:t>
                      </a:r>
                      <a:r>
                        <a:rPr lang="en-US" dirty="0" err="1"/>
                        <a:t>maxheartrate</a:t>
                      </a:r>
                      <a:r>
                        <a:rPr lang="en-US" dirty="0"/>
                        <a:t>', '</a:t>
                      </a:r>
                      <a:r>
                        <a:rPr lang="en-US" dirty="0" err="1"/>
                        <a:t>exerciseangia</a:t>
                      </a:r>
                      <a:r>
                        <a:rPr lang="en-US" dirty="0"/>
                        <a:t>', '</a:t>
                      </a:r>
                      <a:r>
                        <a:rPr lang="en-US" dirty="0" err="1"/>
                        <a:t>oldpeak</a:t>
                      </a:r>
                      <a:r>
                        <a:rPr lang="en-US" dirty="0"/>
                        <a:t>', 'slope', '</a:t>
                      </a:r>
                      <a:r>
                        <a:rPr lang="en-US" dirty="0" err="1"/>
                        <a:t>noofmajorvessels</a:t>
                      </a:r>
                      <a:r>
                        <a:rPr lang="en-US" dirty="0"/>
                        <a:t>', 'target'</a:t>
                      </a:r>
                    </a:p>
                  </a:txBody>
                  <a:tcPr anchor="ctr"/>
                </a:tc>
                <a:extLst>
                  <a:ext uri="{0D108BD9-81ED-4DB2-BD59-A6C34878D82A}">
                    <a16:rowId xmlns:a16="http://schemas.microsoft.com/office/drawing/2014/main" val="998637785"/>
                  </a:ext>
                </a:extLst>
              </a:tr>
              <a:tr h="660092">
                <a:tc>
                  <a:txBody>
                    <a:bodyPr/>
                    <a:lstStyle/>
                    <a:p>
                      <a:pPr algn="ctr"/>
                      <a:r>
                        <a:rPr lang="en-US" sz="1800" b="1" kern="1200" dirty="0">
                          <a:solidFill>
                            <a:schemeClr val="dk1"/>
                          </a:solidFill>
                          <a:latin typeface="+mn-lt"/>
                          <a:ea typeface="+mn-ea"/>
                          <a:cs typeface="+mn-cs"/>
                        </a:rPr>
                        <a:t>Shape</a:t>
                      </a:r>
                    </a:p>
                  </a:txBody>
                  <a:tcPr anchor="ctr"/>
                </a:tc>
                <a:tc>
                  <a:txBody>
                    <a:bodyPr/>
                    <a:lstStyle/>
                    <a:p>
                      <a:pPr algn="l"/>
                      <a:r>
                        <a:rPr lang="en-US" sz="1800" b="1" kern="1200" dirty="0">
                          <a:solidFill>
                            <a:schemeClr val="dk1"/>
                          </a:solidFill>
                          <a:latin typeface="+mn-lt"/>
                          <a:ea typeface="+mn-ea"/>
                          <a:cs typeface="+mn-cs"/>
                        </a:rPr>
                        <a:t>(1000, 14)</a:t>
                      </a:r>
                    </a:p>
                  </a:txBody>
                  <a:tcPr anchor="ctr"/>
                </a:tc>
                <a:extLst>
                  <a:ext uri="{0D108BD9-81ED-4DB2-BD59-A6C34878D82A}">
                    <a16:rowId xmlns:a16="http://schemas.microsoft.com/office/drawing/2014/main" val="1479920731"/>
                  </a:ext>
                </a:extLst>
              </a:tr>
              <a:tr h="660092">
                <a:tc>
                  <a:txBody>
                    <a:bodyPr/>
                    <a:lstStyle/>
                    <a:p>
                      <a:pPr algn="ctr"/>
                      <a:r>
                        <a:rPr lang="en-US" sz="1800" b="1" kern="1200" dirty="0">
                          <a:solidFill>
                            <a:schemeClr val="dk1"/>
                          </a:solidFill>
                          <a:latin typeface="+mn-lt"/>
                          <a:ea typeface="+mn-ea"/>
                          <a:cs typeface="+mn-cs"/>
                        </a:rPr>
                        <a:t>Duplicated</a:t>
                      </a:r>
                    </a:p>
                  </a:txBody>
                  <a:tcPr anchor="ctr"/>
                </a:tc>
                <a:tc>
                  <a:txBody>
                    <a:bodyPr/>
                    <a:lstStyle/>
                    <a:p>
                      <a:pPr algn="l"/>
                      <a:r>
                        <a:rPr lang="en-US" sz="1800" b="1" kern="1200" dirty="0">
                          <a:solidFill>
                            <a:schemeClr val="dk1"/>
                          </a:solidFill>
                          <a:latin typeface="+mn-lt"/>
                          <a:ea typeface="+mn-ea"/>
                          <a:cs typeface="+mn-cs"/>
                        </a:rPr>
                        <a:t>0</a:t>
                      </a:r>
                    </a:p>
                  </a:txBody>
                  <a:tcPr anchor="ctr"/>
                </a:tc>
                <a:extLst>
                  <a:ext uri="{0D108BD9-81ED-4DB2-BD59-A6C34878D82A}">
                    <a16:rowId xmlns:a16="http://schemas.microsoft.com/office/drawing/2014/main" val="1170476883"/>
                  </a:ext>
                </a:extLst>
              </a:tr>
              <a:tr h="660092">
                <a:tc>
                  <a:txBody>
                    <a:bodyPr/>
                    <a:lstStyle/>
                    <a:p>
                      <a:pPr algn="ctr"/>
                      <a:r>
                        <a:rPr lang="en-US" sz="1800" b="1" kern="1200" dirty="0">
                          <a:solidFill>
                            <a:schemeClr val="dk1"/>
                          </a:solidFill>
                          <a:latin typeface="+mn-lt"/>
                          <a:ea typeface="+mn-ea"/>
                          <a:cs typeface="+mn-cs"/>
                        </a:rPr>
                        <a:t>Null</a:t>
                      </a:r>
                    </a:p>
                  </a:txBody>
                  <a:tcPr anchor="ctr"/>
                </a:tc>
                <a:tc>
                  <a:txBody>
                    <a:bodyPr/>
                    <a:lstStyle/>
                    <a:p>
                      <a:pPr algn="l"/>
                      <a:r>
                        <a:rPr lang="en-US" sz="1800" b="1" kern="1200" dirty="0">
                          <a:solidFill>
                            <a:schemeClr val="dk1"/>
                          </a:solidFill>
                          <a:latin typeface="+mn-lt"/>
                          <a:ea typeface="+mn-ea"/>
                          <a:cs typeface="+mn-cs"/>
                        </a:rPr>
                        <a:t>0</a:t>
                      </a:r>
                    </a:p>
                  </a:txBody>
                  <a:tcPr anchor="ctr"/>
                </a:tc>
                <a:extLst>
                  <a:ext uri="{0D108BD9-81ED-4DB2-BD59-A6C34878D82A}">
                    <a16:rowId xmlns:a16="http://schemas.microsoft.com/office/drawing/2014/main" val="1851185017"/>
                  </a:ext>
                </a:extLst>
              </a:tr>
            </a:tbl>
          </a:graphicData>
        </a:graphic>
      </p:graphicFrame>
    </p:spTree>
    <p:extLst>
      <p:ext uri="{BB962C8B-B14F-4D97-AF65-F5344CB8AC3E}">
        <p14:creationId xmlns:p14="http://schemas.microsoft.com/office/powerpoint/2010/main" val="2328036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3061F2-B594-F792-A6B0-DD52F56320A7}"/>
              </a:ext>
            </a:extLst>
          </p:cNvPr>
          <p:cNvPicPr>
            <a:picLocks noChangeAspect="1"/>
          </p:cNvPicPr>
          <p:nvPr/>
        </p:nvPicPr>
        <p:blipFill>
          <a:blip r:embed="rId2"/>
          <a:stretch>
            <a:fillRect/>
          </a:stretch>
        </p:blipFill>
        <p:spPr>
          <a:xfrm>
            <a:off x="0" y="116632"/>
            <a:ext cx="9144000" cy="2396451"/>
          </a:xfrm>
          <a:prstGeom prst="rect">
            <a:avLst/>
          </a:prstGeom>
        </p:spPr>
      </p:pic>
      <p:pic>
        <p:nvPicPr>
          <p:cNvPr id="4" name="Picture 3">
            <a:extLst>
              <a:ext uri="{FF2B5EF4-FFF2-40B4-BE49-F238E27FC236}">
                <a16:creationId xmlns:a16="http://schemas.microsoft.com/office/drawing/2014/main" id="{8034531E-8E5F-A097-B675-B1204D12D988}"/>
              </a:ext>
            </a:extLst>
          </p:cNvPr>
          <p:cNvPicPr>
            <a:picLocks noChangeAspect="1"/>
          </p:cNvPicPr>
          <p:nvPr/>
        </p:nvPicPr>
        <p:blipFill>
          <a:blip r:embed="rId3"/>
          <a:stretch>
            <a:fillRect/>
          </a:stretch>
        </p:blipFill>
        <p:spPr>
          <a:xfrm>
            <a:off x="1907705" y="2533489"/>
            <a:ext cx="4896544" cy="3701926"/>
          </a:xfrm>
          <a:prstGeom prst="rect">
            <a:avLst/>
          </a:prstGeom>
        </p:spPr>
      </p:pic>
    </p:spTree>
    <p:extLst>
      <p:ext uri="{BB962C8B-B14F-4D97-AF65-F5344CB8AC3E}">
        <p14:creationId xmlns:p14="http://schemas.microsoft.com/office/powerpoint/2010/main" val="2679384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5B8026-ACB1-F0B3-F9FA-EAE169268A94}"/>
              </a:ext>
            </a:extLst>
          </p:cNvPr>
          <p:cNvPicPr>
            <a:picLocks noChangeAspect="1"/>
          </p:cNvPicPr>
          <p:nvPr/>
        </p:nvPicPr>
        <p:blipFill>
          <a:blip r:embed="rId2"/>
          <a:stretch>
            <a:fillRect/>
          </a:stretch>
        </p:blipFill>
        <p:spPr>
          <a:xfrm>
            <a:off x="666750" y="604837"/>
            <a:ext cx="7810500" cy="5648325"/>
          </a:xfrm>
          <a:prstGeom prst="rect">
            <a:avLst/>
          </a:prstGeom>
        </p:spPr>
      </p:pic>
    </p:spTree>
    <p:extLst>
      <p:ext uri="{BB962C8B-B14F-4D97-AF65-F5344CB8AC3E}">
        <p14:creationId xmlns:p14="http://schemas.microsoft.com/office/powerpoint/2010/main" val="2529944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E2B886-278A-18BF-66BE-D24948A399F8}"/>
              </a:ext>
            </a:extLst>
          </p:cNvPr>
          <p:cNvSpPr txBox="1"/>
          <p:nvPr/>
        </p:nvSpPr>
        <p:spPr>
          <a:xfrm>
            <a:off x="395536" y="1556792"/>
            <a:ext cx="8352928" cy="3539430"/>
          </a:xfrm>
          <a:prstGeom prst="rect">
            <a:avLst/>
          </a:prstGeom>
          <a:noFill/>
        </p:spPr>
        <p:txBody>
          <a:bodyPr wrap="square">
            <a:spAutoFit/>
          </a:bodyPr>
          <a:lstStyle/>
          <a:p>
            <a:pPr algn="just"/>
            <a:r>
              <a:rPr lang="en-US" sz="2800" dirty="0"/>
              <a:t>Data cleaning, or data cleansing, in machine learning is the process of identifying and rectifying errors, inconsistencies, and inaccuracies within a dataset to improve its quality, reliability, and suitability for training machine learning models. This crucial preprocessing step ensures that the data is accurate, consistent, and free of issues that could negatively impact model performance and lead to unreliable predictions. </a:t>
            </a:r>
          </a:p>
        </p:txBody>
      </p:sp>
      <p:sp>
        <p:nvSpPr>
          <p:cNvPr id="5" name="TextBox 4">
            <a:extLst>
              <a:ext uri="{FF2B5EF4-FFF2-40B4-BE49-F238E27FC236}">
                <a16:creationId xmlns:a16="http://schemas.microsoft.com/office/drawing/2014/main" id="{DFDD7FC2-0CBA-66C0-9C7F-5946486C164E}"/>
              </a:ext>
            </a:extLst>
          </p:cNvPr>
          <p:cNvSpPr txBox="1"/>
          <p:nvPr/>
        </p:nvSpPr>
        <p:spPr>
          <a:xfrm>
            <a:off x="2411760" y="260648"/>
            <a:ext cx="3654152" cy="830997"/>
          </a:xfrm>
          <a:prstGeom prst="rect">
            <a:avLst/>
          </a:prstGeom>
          <a:noFill/>
        </p:spPr>
        <p:txBody>
          <a:bodyPr wrap="square" rtlCol="0">
            <a:spAutoFit/>
          </a:bodyPr>
          <a:lstStyle>
            <a:defPPr>
              <a:defRPr lang="en-US"/>
            </a:defPPr>
            <a:lvl1pPr>
              <a:defRPr sz="4800" b="1" u="sng">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defRPr>
            </a:lvl1pPr>
          </a:lstStyle>
          <a:p>
            <a:r>
              <a:rPr lang="en-US" dirty="0"/>
              <a:t>Data cleaning</a:t>
            </a:r>
          </a:p>
        </p:txBody>
      </p:sp>
    </p:spTree>
    <p:extLst>
      <p:ext uri="{BB962C8B-B14F-4D97-AF65-F5344CB8AC3E}">
        <p14:creationId xmlns:p14="http://schemas.microsoft.com/office/powerpoint/2010/main" val="3665103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4420D6-32F0-B24E-1859-D748B8BDD3F0}"/>
              </a:ext>
            </a:extLst>
          </p:cNvPr>
          <p:cNvPicPr>
            <a:picLocks noChangeAspect="1"/>
          </p:cNvPicPr>
          <p:nvPr/>
        </p:nvPicPr>
        <p:blipFill>
          <a:blip r:embed="rId2"/>
          <a:stretch>
            <a:fillRect/>
          </a:stretch>
        </p:blipFill>
        <p:spPr>
          <a:xfrm>
            <a:off x="657225" y="623887"/>
            <a:ext cx="7829550" cy="5610225"/>
          </a:xfrm>
          <a:prstGeom prst="rect">
            <a:avLst/>
          </a:prstGeom>
        </p:spPr>
      </p:pic>
    </p:spTree>
    <p:extLst>
      <p:ext uri="{BB962C8B-B14F-4D97-AF65-F5344CB8AC3E}">
        <p14:creationId xmlns:p14="http://schemas.microsoft.com/office/powerpoint/2010/main" val="2091098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9DE373-D4EE-C7AD-9DB8-47304CE52BF1}"/>
              </a:ext>
            </a:extLst>
          </p:cNvPr>
          <p:cNvPicPr>
            <a:picLocks noChangeAspect="1"/>
          </p:cNvPicPr>
          <p:nvPr/>
        </p:nvPicPr>
        <p:blipFill>
          <a:blip r:embed="rId2"/>
          <a:stretch>
            <a:fillRect/>
          </a:stretch>
        </p:blipFill>
        <p:spPr>
          <a:xfrm>
            <a:off x="900112" y="847725"/>
            <a:ext cx="7343775" cy="5162550"/>
          </a:xfrm>
          <a:prstGeom prst="rect">
            <a:avLst/>
          </a:prstGeom>
        </p:spPr>
      </p:pic>
    </p:spTree>
    <p:extLst>
      <p:ext uri="{BB962C8B-B14F-4D97-AF65-F5344CB8AC3E}">
        <p14:creationId xmlns:p14="http://schemas.microsoft.com/office/powerpoint/2010/main" val="688887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E771BB-2F23-AD87-B1F9-76EF4004025F}"/>
              </a:ext>
            </a:extLst>
          </p:cNvPr>
          <p:cNvPicPr>
            <a:picLocks noChangeAspect="1"/>
          </p:cNvPicPr>
          <p:nvPr/>
        </p:nvPicPr>
        <p:blipFill>
          <a:blip r:embed="rId2"/>
          <a:srcRect r="1176"/>
          <a:stretch>
            <a:fillRect/>
          </a:stretch>
        </p:blipFill>
        <p:spPr>
          <a:xfrm>
            <a:off x="0" y="0"/>
            <a:ext cx="9036496" cy="6858000"/>
          </a:xfrm>
          <a:prstGeom prst="rect">
            <a:avLst/>
          </a:prstGeom>
        </p:spPr>
      </p:pic>
    </p:spTree>
    <p:extLst>
      <p:ext uri="{BB962C8B-B14F-4D97-AF65-F5344CB8AC3E}">
        <p14:creationId xmlns:p14="http://schemas.microsoft.com/office/powerpoint/2010/main" val="2716390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01B840-53C7-B0DC-528B-460C8A35FD93}"/>
              </a:ext>
            </a:extLst>
          </p:cNvPr>
          <p:cNvSpPr txBox="1"/>
          <p:nvPr/>
        </p:nvSpPr>
        <p:spPr>
          <a:xfrm>
            <a:off x="107504" y="1268760"/>
            <a:ext cx="9361040" cy="830997"/>
          </a:xfrm>
          <a:prstGeom prst="rect">
            <a:avLst/>
          </a:prstGeom>
          <a:noFill/>
        </p:spPr>
        <p:txBody>
          <a:bodyPr wrap="square" rtlCol="0">
            <a:spAutoFit/>
          </a:bodyPr>
          <a:lstStyle>
            <a:defPPr>
              <a:defRPr lang="en-US"/>
            </a:defPPr>
            <a:lvl1pPr>
              <a:defRPr sz="4800" b="1" u="sng">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defRPr>
            </a:lvl1pPr>
          </a:lstStyle>
          <a:p>
            <a:r>
              <a:rPr lang="en-US" dirty="0"/>
              <a:t>Apply Machine Learning Algorithm</a:t>
            </a:r>
          </a:p>
        </p:txBody>
      </p:sp>
      <p:sp>
        <p:nvSpPr>
          <p:cNvPr id="3" name="TextBox 2">
            <a:extLst>
              <a:ext uri="{FF2B5EF4-FFF2-40B4-BE49-F238E27FC236}">
                <a16:creationId xmlns:a16="http://schemas.microsoft.com/office/drawing/2014/main" id="{666A9E50-8BB9-EA04-646F-7652482E2831}"/>
              </a:ext>
            </a:extLst>
          </p:cNvPr>
          <p:cNvSpPr txBox="1"/>
          <p:nvPr/>
        </p:nvSpPr>
        <p:spPr>
          <a:xfrm>
            <a:off x="2123728" y="3645024"/>
            <a:ext cx="5112568" cy="830997"/>
          </a:xfrm>
          <a:prstGeom prst="rect">
            <a:avLst/>
          </a:prstGeom>
          <a:noFill/>
        </p:spPr>
        <p:txBody>
          <a:bodyPr wrap="square" rtlCol="0">
            <a:spAutoFit/>
          </a:bodyPr>
          <a:lstStyle>
            <a:defPPr>
              <a:defRPr lang="en-US"/>
            </a:defPPr>
            <a:lvl1pPr>
              <a:defRPr sz="4800" b="1" u="sng">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defRPr>
            </a:lvl1pPr>
          </a:lstStyle>
          <a:p>
            <a:r>
              <a:rPr lang="en-US" dirty="0"/>
              <a:t>Logistic Regression </a:t>
            </a:r>
          </a:p>
        </p:txBody>
      </p:sp>
    </p:spTree>
    <p:extLst>
      <p:ext uri="{BB962C8B-B14F-4D97-AF65-F5344CB8AC3E}">
        <p14:creationId xmlns:p14="http://schemas.microsoft.com/office/powerpoint/2010/main" val="3344292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5C8066-F4E5-E713-825C-410494D5D2FA}"/>
              </a:ext>
            </a:extLst>
          </p:cNvPr>
          <p:cNvSpPr>
            <a:spLocks noChangeArrowheads="1"/>
          </p:cNvSpPr>
          <p:nvPr/>
        </p:nvSpPr>
        <p:spPr bwMode="auto">
          <a:xfrm>
            <a:off x="1331640" y="908720"/>
            <a:ext cx="3964099" cy="215443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457200" lvl="0" indent="-457200" defTabSz="914400" eaLnBrk="0" fontAlgn="base" hangingPunct="0">
              <a:spcBef>
                <a:spcPct val="0"/>
              </a:spcBef>
              <a:spcAft>
                <a:spcPct val="0"/>
              </a:spcAft>
              <a:buFont typeface="Wingdings" panose="05000000000000000000" pitchFamily="2" charset="2"/>
              <a:buChar char="Ø"/>
            </a:pPr>
            <a:r>
              <a:rPr lang="en-US" altLang="en-US" sz="2800" dirty="0">
                <a:latin typeface="menlo"/>
              </a:rPr>
              <a:t>Training accuracy: 92.62</a:t>
            </a:r>
          </a:p>
          <a:p>
            <a:pPr marL="457200" lvl="0" indent="-457200" defTabSz="914400" eaLnBrk="0" fontAlgn="base" hangingPunct="0">
              <a:spcBef>
                <a:spcPct val="0"/>
              </a:spcBef>
              <a:spcAft>
                <a:spcPct val="0"/>
              </a:spcAft>
              <a:buFont typeface="Wingdings" panose="05000000000000000000" pitchFamily="2" charset="2"/>
              <a:buChar char="Ø"/>
            </a:pPr>
            <a:endParaRPr lang="en-US" altLang="en-US" sz="2800" dirty="0">
              <a:latin typeface="menlo"/>
            </a:endParaRPr>
          </a:p>
          <a:p>
            <a:pPr marL="457200" indent="-457200" defTabSz="914400" eaLnBrk="0" fontAlgn="base" hangingPunct="0">
              <a:spcBef>
                <a:spcPct val="0"/>
              </a:spcBef>
              <a:spcAft>
                <a:spcPct val="0"/>
              </a:spcAft>
              <a:buFont typeface="Wingdings" panose="05000000000000000000" pitchFamily="2" charset="2"/>
              <a:buChar char="Ø"/>
            </a:pPr>
            <a:r>
              <a:rPr lang="en-US" altLang="en-US" sz="2800" dirty="0">
                <a:latin typeface="menlo"/>
              </a:rPr>
              <a:t>Testing accuracy: 92.50</a:t>
            </a:r>
          </a:p>
          <a:p>
            <a:pPr marL="457200" indent="-457200" defTabSz="914400" eaLnBrk="0" fontAlgn="base" hangingPunct="0">
              <a:spcBef>
                <a:spcPct val="0"/>
              </a:spcBef>
              <a:spcAft>
                <a:spcPct val="0"/>
              </a:spcAft>
              <a:buFont typeface="Wingdings" panose="05000000000000000000" pitchFamily="2" charset="2"/>
              <a:buChar char="Ø"/>
            </a:pPr>
            <a:endParaRPr lang="en-US" altLang="en-US" sz="2800" dirty="0">
              <a:latin typeface="menlo"/>
            </a:endParaRPr>
          </a:p>
          <a:p>
            <a:pPr marL="457200" indent="-457200" defTabSz="914400" eaLnBrk="0" fontAlgn="base" hangingPunct="0">
              <a:spcBef>
                <a:spcPct val="0"/>
              </a:spcBef>
              <a:spcAft>
                <a:spcPct val="0"/>
              </a:spcAft>
              <a:buFont typeface="Wingdings" panose="05000000000000000000" pitchFamily="2" charset="2"/>
              <a:buChar char="Ø"/>
            </a:pPr>
            <a:r>
              <a:rPr lang="en-US" altLang="en-US" sz="2800" dirty="0">
                <a:latin typeface="menlo"/>
              </a:rPr>
              <a:t>Classification Report.</a:t>
            </a:r>
          </a:p>
        </p:txBody>
      </p:sp>
      <p:pic>
        <p:nvPicPr>
          <p:cNvPr id="7" name="Picture 6">
            <a:extLst>
              <a:ext uri="{FF2B5EF4-FFF2-40B4-BE49-F238E27FC236}">
                <a16:creationId xmlns:a16="http://schemas.microsoft.com/office/drawing/2014/main" id="{8D65B4BF-5668-9904-77F4-FE5C0C741B77}"/>
              </a:ext>
            </a:extLst>
          </p:cNvPr>
          <p:cNvPicPr>
            <a:picLocks noChangeAspect="1"/>
          </p:cNvPicPr>
          <p:nvPr/>
        </p:nvPicPr>
        <p:blipFill>
          <a:blip r:embed="rId2"/>
          <a:stretch>
            <a:fillRect/>
          </a:stretch>
        </p:blipFill>
        <p:spPr>
          <a:xfrm>
            <a:off x="1979712" y="3212976"/>
            <a:ext cx="4953000" cy="1809750"/>
          </a:xfrm>
          <a:prstGeom prst="rect">
            <a:avLst/>
          </a:prstGeom>
          <a:ln>
            <a:solidFill>
              <a:schemeClr val="tx1"/>
            </a:solidFill>
          </a:ln>
        </p:spPr>
      </p:pic>
    </p:spTree>
    <p:extLst>
      <p:ext uri="{BB962C8B-B14F-4D97-AF65-F5344CB8AC3E}">
        <p14:creationId xmlns:p14="http://schemas.microsoft.com/office/powerpoint/2010/main" val="4134793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C8D259-964F-0D1A-BAF5-F964E4AE1EEB}"/>
              </a:ext>
            </a:extLst>
          </p:cNvPr>
          <p:cNvSpPr txBox="1"/>
          <p:nvPr/>
        </p:nvSpPr>
        <p:spPr>
          <a:xfrm>
            <a:off x="1835696" y="2420888"/>
            <a:ext cx="5832648" cy="830997"/>
          </a:xfrm>
          <a:prstGeom prst="rect">
            <a:avLst/>
          </a:prstGeom>
          <a:noFill/>
        </p:spPr>
        <p:txBody>
          <a:bodyPr wrap="square" rtlCol="0">
            <a:spAutoFit/>
          </a:bodyPr>
          <a:lstStyle>
            <a:defPPr>
              <a:defRPr lang="en-US"/>
            </a:defPPr>
            <a:lvl1pPr>
              <a:defRPr sz="4800" b="1" u="sng">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defRPr>
            </a:lvl1pPr>
          </a:lstStyle>
          <a:p>
            <a:r>
              <a:rPr lang="en-US" dirty="0"/>
              <a:t>Application Interface</a:t>
            </a:r>
          </a:p>
        </p:txBody>
      </p:sp>
    </p:spTree>
    <p:extLst>
      <p:ext uri="{BB962C8B-B14F-4D97-AF65-F5344CB8AC3E}">
        <p14:creationId xmlns:p14="http://schemas.microsoft.com/office/powerpoint/2010/main" val="3021388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684DB1-30F5-8F37-AB4F-16DD7549AB55}"/>
              </a:ext>
            </a:extLst>
          </p:cNvPr>
          <p:cNvPicPr>
            <a:picLocks noChangeAspect="1"/>
          </p:cNvPicPr>
          <p:nvPr/>
        </p:nvPicPr>
        <p:blipFill>
          <a:blip r:embed="rId2"/>
          <a:stretch>
            <a:fillRect/>
          </a:stretch>
        </p:blipFill>
        <p:spPr>
          <a:xfrm>
            <a:off x="2397599" y="44624"/>
            <a:ext cx="4292210" cy="6768752"/>
          </a:xfrm>
          <a:prstGeom prst="rect">
            <a:avLst/>
          </a:prstGeom>
        </p:spPr>
      </p:pic>
    </p:spTree>
    <p:extLst>
      <p:ext uri="{BB962C8B-B14F-4D97-AF65-F5344CB8AC3E}">
        <p14:creationId xmlns:p14="http://schemas.microsoft.com/office/powerpoint/2010/main" val="2758710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0AF72E18-05B6-E993-AC7A-0FDCA09A5D43}"/>
              </a:ext>
            </a:extLst>
          </p:cNvPr>
          <p:cNvSpPr txBox="1">
            <a:spLocks/>
          </p:cNvSpPr>
          <p:nvPr/>
        </p:nvSpPr>
        <p:spPr>
          <a:xfrm>
            <a:off x="2483768" y="2442346"/>
            <a:ext cx="7380820" cy="995316"/>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6000" b="1" dirty="0" err="1">
                <a:latin typeface="Algerian" panose="04020705040A02060702" pitchFamily="82" charset="0"/>
              </a:rPr>
              <a:t>Tnank</a:t>
            </a:r>
            <a:r>
              <a:rPr lang="en-US" sz="6000" b="1" dirty="0">
                <a:latin typeface="Algerian" panose="04020705040A02060702" pitchFamily="82" charset="0"/>
              </a:rPr>
              <a:t> you</a:t>
            </a:r>
            <a:endParaRPr lang="en-US" sz="6000" dirty="0">
              <a:latin typeface="Algerian" panose="04020705040A02060702" pitchFamily="82" charset="0"/>
            </a:endParaRPr>
          </a:p>
        </p:txBody>
      </p:sp>
    </p:spTree>
    <p:extLst>
      <p:ext uri="{BB962C8B-B14F-4D97-AF65-F5344CB8AC3E}">
        <p14:creationId xmlns:p14="http://schemas.microsoft.com/office/powerpoint/2010/main" val="398591716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696</TotalTime>
  <Words>349</Words>
  <Application>Microsoft Office PowerPoint</Application>
  <PresentationFormat>On-screen Show (4:3)</PresentationFormat>
  <Paragraphs>110</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Algerian</vt:lpstr>
      <vt:lpstr>Calibri</vt:lpstr>
      <vt:lpstr>Calibri Light</vt:lpstr>
      <vt:lpstr>Consolas</vt:lpstr>
      <vt:lpstr>Google Sans</vt:lpstr>
      <vt:lpstr>menlo</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Cloudburst Analysis in Pakistan</dc:title>
  <dc:creator>Blue City</dc:creator>
  <cp:lastModifiedBy>JUNAID</cp:lastModifiedBy>
  <cp:revision>37</cp:revision>
  <dcterms:created xsi:type="dcterms:W3CDTF">2025-09-13T07:31:25Z</dcterms:created>
  <dcterms:modified xsi:type="dcterms:W3CDTF">2025-10-21T18:48:12Z</dcterms:modified>
</cp:coreProperties>
</file>